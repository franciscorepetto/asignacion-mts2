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858000" cy="6858000"/>
          </a:xfrm>
          <a:prstGeom prst="ellipse">
            <a:avLst/>
          </a:prstGeom>
          <a:solidFill>
            <a:srgbClr val="153B3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FA8B0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2788920"/>
            <a:ext cx="1554480" cy="1554480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5" name="Image 0" descr="/tmp/claude-0/-home-user-Asignacion-mts2/99774528-afc8-5db1-a742-2911f868ab09/scratchpad/pptx/icons/warehou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9995" y="3161995"/>
            <a:ext cx="808330" cy="8083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3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2148840"/>
            <a:ext cx="85039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Asignación de Metros Cuadrados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Actividad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94360" y="4343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cálculo manual en Excel a un sistema automático, trazable y confiable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43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para Dirección  ·  Julio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5" name="Image 0" descr="/tmp/claude-0/-home-user-Asignacion-mts2/99774528-afc8-5db1-a742-2911f868ab09/scratchpad/pptx/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1999244"/>
            <a:ext cx="317480" cy="31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56232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8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148840" y="18196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actual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48840" y="21671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manual en Excel y sus consecuencias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566928" cy="566928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10" name="Image 1" descr="/tmp/claude-0/-home-user-Asignacion-mts2/99774528-afc8-5db1-a742-2911f868ab09/scratchpad/pptx/icons/draw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04" y="305080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07792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8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2148840" y="28712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148840" y="32186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que trabaja sobre el plano real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66928" cy="566928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15" name="Image 2" descr="/tmp/claude-0/-home-user-Asignacion-mts2/99774528-afc8-5db1-a742-2911f868ab09/scratchpad/pptx/icons/step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4" y="410236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959352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8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2148840" y="39227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148840" y="427024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uso, paso a paso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029200"/>
            <a:ext cx="566928" cy="566928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20" name="Image 3" descr="/tmp/claude-0/-home-user-Asignacion-mts2/99774528-afc8-5db1-a742-2911f868ab09/scratchpad/pptx/icons/rock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04" y="5153924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5010912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8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2148840" y="49743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próximos pasos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2148840" y="532180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mejora y cómo seguimos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OCASA — Asignación de m² por Actividad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actual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calcular cuántos metros cuadrados ocupa cada actividad en cada sucursal es un proceso manual, lento y sin control cruzado.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EAF7F8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97480"/>
            <a:ext cx="685800" cy="685800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7" name="Image 0" descr="/tmp/claude-0/-home-user-Asignacion-mts2/99774528-afc8-5db1-a742-2911f868ab09/scratchpad/pptx/icons/exce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8483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6616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manual en Excel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m² de cada actividad se medían a mano sobre el plano y se pasaban a una planilla, sucursal por sucursal.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233172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EAF7F8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697480"/>
            <a:ext cx="685800" cy="685800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12" name="Image 1" descr="/tmp/claude-0/-home-user-Asignacion-mts2/99774528-afc8-5db1-a742-2911f868ab09/scratchpad/pptx/icons/rul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28483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56616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Escalas aplicadas a mano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17720" y="42519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medición requería aplicar la escala del plano manualmente: un paso lento y expuesto a errores humanos.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233172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EAF7F8"/>
          </a:solidFill>
          <a:ln/>
        </p:spPr>
      </p:sp>
      <p:sp>
        <p:nvSpPr>
          <p:cNvPr id="16" name="Shape 12"/>
          <p:cNvSpPr/>
          <p:nvPr/>
        </p:nvSpPr>
        <p:spPr>
          <a:xfrm>
            <a:off x="8366760" y="2697480"/>
            <a:ext cx="685800" cy="685800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17" name="Image 2" descr="/tmp/claude-0/-home-user-Asignacion-mts2/99774528-afc8-5db1-a742-2911f868ab09/scratchpad/pptx/icons/expo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36" y="284835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56616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final armado a mano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366760" y="42519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calculadas las áreas, había que armar manualmente la planilla que gestión y costeo necesitaban.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OCASA — Asignación de m² por Actividad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consecuencia: inconsistencias no detectadas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cruce sistemático entre el espacio asignado y la dotación cargada, aparecían casos como estos en las sucursales: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66360" cy="3108960"/>
          </a:xfrm>
          <a:prstGeom prst="roundRect">
            <a:avLst>
              <a:gd name="adj" fmla="val 2941"/>
            </a:avLst>
          </a:prstGeom>
          <a:solidFill>
            <a:srgbClr val="FBEAE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51760"/>
            <a:ext cx="685800" cy="685800"/>
          </a:xfrm>
          <a:prstGeom prst="ellipse">
            <a:avLst/>
          </a:prstGeom>
          <a:solidFill>
            <a:srgbClr val="D9534F"/>
          </a:solidFill>
          <a:ln/>
        </p:spPr>
      </p:sp>
      <p:pic>
        <p:nvPicPr>
          <p:cNvPr id="7" name="Image 0" descr="/tmp/claude-0/-home-user-Asignacion-mts2/99774528-afc8-5db1-a742-2911f868ab09/scratchpad/pptx/icons/ale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8026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65176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FTE sin MTS2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52044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con personal (dotación) cargado, pero sin ningún espacio físico asignado en el plano.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6634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real: sucursal AEP · "DISTRIBUCION DI"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2286000"/>
            <a:ext cx="5166360" cy="3108960"/>
          </a:xfrm>
          <a:prstGeom prst="roundRect">
            <a:avLst>
              <a:gd name="adj" fmla="val 2941"/>
            </a:avLst>
          </a:prstGeom>
          <a:solidFill>
            <a:srgbClr val="FBF2E1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2651760"/>
            <a:ext cx="685800" cy="685800"/>
          </a:xfrm>
          <a:prstGeom prst="ellipse">
            <a:avLst/>
          </a:prstGeom>
          <a:solidFill>
            <a:srgbClr val="E0A62E"/>
          </a:solidFill>
          <a:ln/>
        </p:spPr>
      </p:sp>
      <p:pic>
        <p:nvPicPr>
          <p:cNvPr id="13" name="Image 1" descr="/tmp/claude-0/-home-user-Asignacion-mts2/99774528-afc8-5db1-a742-2911f868ab09/scratchpad/pptx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280263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65176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MTS2 sin FTE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537960" y="352044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asignado a una actividad que no tiene dotación cargada que lo respalde.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37960" y="46634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real: sucursal AEP · "TRONCAL TERRESTRE DI"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una plataforma que cruce ambos datos automáticamente, estos casos se descubrían tarde — o no se descubrían.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OCASA — Asignación de m² por Actividad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una plataforma sobre el plano real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que trabaja directamente sobre el plano vectorial (DXF) de cada sucursal, permitiendo dibujar y calcular las áreas de forma automática — sin escalas ni mediciones manuales.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6" name="Image 0" descr="/tmp/claude-0/-home-user-Asignacion-mts2/99774528-afc8-5db1-a742-2911f868ab09/scratchpad/pptx/icons/pla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1638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0449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plano por sucursal, cargado una sola vez (multi-piso)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776472"/>
            <a:ext cx="457200" cy="457200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9" name="Image 1" descr="/tmp/claude-0/-home-user-Asignacion-mts2/99774528-afc8-5db1-a742-2911f868ab09/scratchpad/pptx/icons/rul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87705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7581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 m² a partir de lo dibujado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489704"/>
            <a:ext cx="457200" cy="457200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12" name="Image 2" descr="/tmp/claude-0/-home-user-Asignacion-mts2/99774528-afc8-5db1-a742-2911f868ab09/scratchpad/pptx/icons/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59028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44714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protegido por usuario y contraseña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309360" y="150876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7FBFB"/>
          </a:solidFill>
          <a:ln w="19050">
            <a:solidFill>
              <a:srgbClr val="D8EEF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583680" y="17099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— SUCURSAL AEP · PISO 1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629400" y="2194560"/>
            <a:ext cx="1920240" cy="1371600"/>
          </a:xfrm>
          <a:prstGeom prst="rect">
            <a:avLst/>
          </a:prstGeom>
          <a:solidFill>
            <a:srgbClr val="1FA8B0">
              <a:alpha val="80000"/>
            </a:srgbClr>
          </a:solidFill>
          <a:ln w="22225">
            <a:solidFill>
              <a:srgbClr val="1FA8B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629400" y="21945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732520" y="2194560"/>
            <a:ext cx="1417320" cy="1371600"/>
          </a:xfrm>
          <a:prstGeom prst="rect">
            <a:avLst/>
          </a:prstGeom>
          <a:solidFill>
            <a:srgbClr val="5FBEC4">
              <a:alpha val="80000"/>
            </a:srgbClr>
          </a:solidFill>
          <a:ln w="22225">
            <a:solidFill>
              <a:srgbClr val="5FBEC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732520" y="21945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629400" y="3749040"/>
            <a:ext cx="1417320" cy="1600200"/>
          </a:xfrm>
          <a:prstGeom prst="rect">
            <a:avLst/>
          </a:prstGeom>
          <a:solidFill>
            <a:srgbClr val="2E9E6D">
              <a:alpha val="80000"/>
            </a:srgbClr>
          </a:solidFill>
          <a:ln w="22225">
            <a:solidFill>
              <a:srgbClr val="2E9E6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629400" y="3749040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Terrestre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229600" y="3749040"/>
            <a:ext cx="1920240" cy="1600200"/>
          </a:xfrm>
          <a:prstGeom prst="rect">
            <a:avLst/>
          </a:prstGeom>
          <a:solidFill>
            <a:srgbClr val="E0A62E">
              <a:alpha val="80000"/>
            </a:srgbClr>
          </a:solidFill>
          <a:ln w="22225">
            <a:solidFill>
              <a:srgbClr val="E0A62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229600" y="3749040"/>
            <a:ext cx="1920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10287000" y="2194560"/>
            <a:ext cx="10515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287000" y="2194560"/>
            <a:ext cx="10515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total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dibujada: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1.240 m²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309360" y="624535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Ilustrativo — no es una captura real de la aplicación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OCASA — Asignación de m² por Actividad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funciona, paso a paso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23060" y="2432304"/>
            <a:ext cx="8458200" cy="0"/>
          </a:xfrm>
          <a:prstGeom prst="line">
            <a:avLst/>
          </a:prstGeom>
          <a:noFill/>
          <a:ln w="25400">
            <a:solidFill>
              <a:srgbClr val="D8EEF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39596" y="2148840"/>
            <a:ext cx="566928" cy="566928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6" name="Image 0" descr="/tmp/claude-0/-home-user-Asignacion-mts2/99774528-afc8-5db1-a742-2911f868ab09/scratchpad/pptx/icons/pla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320" y="2273564"/>
            <a:ext cx="317480" cy="317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66444" y="2075688"/>
            <a:ext cx="713232" cy="713232"/>
          </a:xfrm>
          <a:prstGeom prst="ellipse">
            <a:avLst/>
          </a:prstGeom>
          <a:ln w="15875">
            <a:solidFill>
              <a:srgbClr val="33C2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8346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A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13639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plano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6118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carga el DXF de la sucursal (una sola vez)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54146" y="2148840"/>
            <a:ext cx="566928" cy="566928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12" name="Image 1" descr="/tmp/claude-0/-home-user-Asignacion-mts2/99774528-afc8-5db1-a742-2911f868ab09/scratchpad/pptx/icons/draw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870" y="2273564"/>
            <a:ext cx="317480" cy="317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80994" y="2075688"/>
            <a:ext cx="713232" cy="713232"/>
          </a:xfrm>
          <a:prstGeom prst="ellipse">
            <a:avLst/>
          </a:prstGeom>
          <a:ln w="15875">
            <a:solidFill>
              <a:srgbClr val="33C2C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663190" y="28346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A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663190" y="313639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áreas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663190" y="36118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dibuja cada zona sobre el plano real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568696" y="2148840"/>
            <a:ext cx="566928" cy="566928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18" name="Image 2" descr="/tmp/claude-0/-home-user-Asignacion-mts2/99774528-afc8-5db1-a742-2911f868ab09/scratchpad/pptx/icons/sitem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420" y="2273564"/>
            <a:ext cx="317480" cy="317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95544" y="2075688"/>
            <a:ext cx="713232" cy="713232"/>
          </a:xfrm>
          <a:prstGeom prst="ellipse">
            <a:avLst/>
          </a:prstGeom>
          <a:ln w="15875">
            <a:solidFill>
              <a:srgbClr val="33C2C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777740" y="28346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A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777740" y="313639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actividad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777740" y="36118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Actividad, cliente y % de superficie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683246" y="2148840"/>
            <a:ext cx="566928" cy="566928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24" name="Image 3" descr="/tmp/claude-0/-home-user-Asignacion-mts2/99774528-afc8-5db1-a742-2911f868ab09/scratchpad/pptx/icons/rul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970" y="2273564"/>
            <a:ext cx="317480" cy="3174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610094" y="2075688"/>
            <a:ext cx="713232" cy="713232"/>
          </a:xfrm>
          <a:prstGeom prst="ellipse">
            <a:avLst/>
          </a:prstGeom>
          <a:ln w="15875">
            <a:solidFill>
              <a:srgbClr val="33C2C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892290" y="28346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A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892290" y="313639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892290" y="36118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calcula los m² reales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797796" y="2148840"/>
            <a:ext cx="566928" cy="566928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30" name="Image 4" descr="/tmp/claude-0/-home-user-Asignacion-mts2/99774528-afc8-5db1-a742-2911f868ab09/scratchpad/pptx/icons/expo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520" y="2273564"/>
            <a:ext cx="317480" cy="31748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724644" y="2075688"/>
            <a:ext cx="713232" cy="713232"/>
          </a:xfrm>
          <a:prstGeom prst="ellipse">
            <a:avLst/>
          </a:prstGeom>
          <a:ln w="15875">
            <a:solidFill>
              <a:srgbClr val="33C2CA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006840" y="28346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A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9006840" y="313639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Excel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9006840" y="36118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 final lista, con un clic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48640" y="507492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EAF7F8"/>
          </a:solidFill>
          <a:ln/>
        </p:spPr>
      </p:sp>
      <p:sp>
        <p:nvSpPr>
          <p:cNvPr id="36" name="Text 29"/>
          <p:cNvSpPr/>
          <p:nvPr/>
        </p:nvSpPr>
        <p:spPr>
          <a:xfrm>
            <a:off x="822960" y="5074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paso requiere medir a mano ni aplicar escalas: todo el cálculo se resuelve a partir de las coordenadas del plano.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OCASA — Asignación de m² por Actividad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AUTOMÁTICO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automática de inconsistencias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cruza, en tiempo real, lo dibujado y asignado contra la dotación (FTE) cargada por sucursal, y señala el estado de cada actividad: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E9F7F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06040"/>
            <a:ext cx="621792" cy="621792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7" name="Image 0" descr="/tmp/claude-0/-home-user-Asignacion-mts2/99774528-afc8-5db1-a742-2911f868ab09/scratchpad/pptx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474" y="2742834"/>
            <a:ext cx="348204" cy="3482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3832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9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Cubierta correctamente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8680" y="397764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asignado coincide con la dotación cargada.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28600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BEAE9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606040"/>
            <a:ext cx="621792" cy="621792"/>
          </a:xfrm>
          <a:prstGeom prst="ellipse">
            <a:avLst/>
          </a:prstGeom>
          <a:solidFill>
            <a:srgbClr val="D9534F"/>
          </a:solidFill>
          <a:ln/>
        </p:spPr>
      </p:sp>
      <p:pic>
        <p:nvPicPr>
          <p:cNvPr id="12" name="Image 1" descr="/tmp/claude-0/-home-user-Asignacion-mts2/99774528-afc8-5db1-a742-2911f868ab09/scratchpad/pptx/icons/cros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514" y="2742834"/>
            <a:ext cx="348204" cy="3482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3832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espacio asignado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17720" y="397764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dotación (FTE) cargada, pero ningún m² asignado todavía.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228600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BF2E1"/>
          </a:solidFill>
          <a:ln/>
        </p:spPr>
      </p:sp>
      <p:sp>
        <p:nvSpPr>
          <p:cNvPr id="16" name="Shape 12"/>
          <p:cNvSpPr/>
          <p:nvPr/>
        </p:nvSpPr>
        <p:spPr>
          <a:xfrm>
            <a:off x="8366760" y="2606040"/>
            <a:ext cx="621792" cy="621792"/>
          </a:xfrm>
          <a:prstGeom prst="ellipse">
            <a:avLst/>
          </a:prstGeom>
          <a:solidFill>
            <a:srgbClr val="E0A62E"/>
          </a:solidFill>
          <a:ln/>
        </p:spPr>
      </p:sp>
      <p:pic>
        <p:nvPicPr>
          <p:cNvPr id="17" name="Image 2" descr="/tmp/claude-0/-home-user-Asignacion-mts2/99774528-afc8-5db1-a742-2911f868ab09/scratchpad/pptx/icons/ale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554" y="2742834"/>
            <a:ext cx="348204" cy="3482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3832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A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dotación asociada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66760" y="397764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espacio asignado, sin FTE que lo respalde.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5486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antes exigía revisar planillas manualmente, ahora se visualiza al instante, sucursal por sucursal.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OCASA — Asignación de m² por Actividad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concretos: antes / después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00400" cy="502920"/>
          </a:xfrm>
          <a:prstGeom prst="rect">
            <a:avLst/>
          </a:prstGeom>
          <a:solidFill>
            <a:srgbClr val="0E2A2C"/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1600200"/>
            <a:ext cx="3703320" cy="50292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6" name="Shape 4"/>
          <p:cNvSpPr/>
          <p:nvPr/>
        </p:nvSpPr>
        <p:spPr>
          <a:xfrm>
            <a:off x="7452360" y="1600200"/>
            <a:ext cx="3703320" cy="502920"/>
          </a:xfrm>
          <a:prstGeom prst="rect">
            <a:avLst/>
          </a:prstGeom>
          <a:solidFill>
            <a:srgbClr val="2E9E6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49040" y="16002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52360" y="16002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10607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03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m²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31920" y="210312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con regla y escalas del plano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10312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Automático, a partir del plano cargado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10607040" cy="777240"/>
          </a:xfrm>
          <a:prstGeom prst="rect">
            <a:avLst/>
          </a:prstGeom>
          <a:solidFill>
            <a:srgbClr val="F4FAFA"/>
          </a:solidFill>
          <a:ln w="9525">
            <a:solidFill>
              <a:srgbClr val="D8E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803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actividad y cliente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931920" y="28803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planillas separadas y desconectadas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35240" y="28803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 en el mismo dibujo del plano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10607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576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inconsistencias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36576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sistemática; se descubría tarde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635240" y="36576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 y visible en tiempo real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10607040" cy="777240"/>
          </a:xfrm>
          <a:prstGeom prst="rect">
            <a:avLst/>
          </a:prstGeom>
          <a:solidFill>
            <a:srgbClr val="F4FAFA"/>
          </a:solidFill>
          <a:ln w="9525">
            <a:solidFill>
              <a:srgbClr val="D8EE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4348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final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931920" y="44348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Armado manual, sucursal por sucursal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635240" y="44348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lista con un clic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0607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2120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y control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931920" y="52120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sueltos, sin control de versión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35240" y="52120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única, con usuario y permisos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OCASA — Asignación de m² por Actividad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ADICIONAL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Pasillos y columnas del depósito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plataforma permite mapear pasillos y columnas sobre el plano, cruzando contra las posiciones reales de los racks — con estadísticas de ocupación por zona.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6" name="Image 0" descr="/tmp/claude-0/-home-user-Asignacion-mts2/99774528-afc8-5db1-a742-2911f868ab09/scratchpad/pptx/icons/m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1181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9992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Pasillos y columnas marcados sobre el mismo plano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730752"/>
            <a:ext cx="457200" cy="457200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9" name="Image 1" descr="/tmp/claude-0/-home-user-Asignacion-mts2/99774528-afc8-5db1-a742-2911f868ab09/scratchpad/pptx/icons/gri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83133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7124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con posiciones reales: altura, dimensiones y peso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443984"/>
            <a:ext cx="457200" cy="457200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12" name="Image 2" descr="/tmp/claude-0/-home-user-Asignacion-mts2/99774528-afc8-5db1-a742-2911f868ab09/scratchpad/pptx/icons/sitem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54456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442569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 ocupación (ej. espacio cedido)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309360" y="150876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7FBFB"/>
          </a:solidFill>
          <a:ln w="19050">
            <a:solidFill>
              <a:srgbClr val="D8EEF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583680" y="17099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PASILLOS Y COLUMNAS — CD SARANDÍ NAVE 1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766560" y="2286000"/>
            <a:ext cx="658368" cy="658368"/>
          </a:xfrm>
          <a:prstGeom prst="rect">
            <a:avLst/>
          </a:prstGeom>
          <a:solidFill>
            <a:srgbClr val="D8EE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534656" y="2286000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02752" y="2286000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070848" y="2286000"/>
            <a:ext cx="658368" cy="658368"/>
          </a:xfrm>
          <a:prstGeom prst="rect">
            <a:avLst/>
          </a:prstGeom>
          <a:solidFill>
            <a:srgbClr val="D8EE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838944" y="2286000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607040" y="2286000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66560" y="3054096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534656" y="3054096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302752" y="3054096"/>
            <a:ext cx="658368" cy="658368"/>
          </a:xfrm>
          <a:prstGeom prst="rect">
            <a:avLst/>
          </a:prstGeom>
          <a:solidFill>
            <a:srgbClr val="D8EE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070848" y="3054096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838944" y="3054096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0607040" y="3054096"/>
            <a:ext cx="658368" cy="658368"/>
          </a:xfrm>
          <a:prstGeom prst="rect">
            <a:avLst/>
          </a:prstGeom>
          <a:solidFill>
            <a:srgbClr val="D8EE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766560" y="3822192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534656" y="3822192"/>
            <a:ext cx="658368" cy="658368"/>
          </a:xfrm>
          <a:prstGeom prst="rect">
            <a:avLst/>
          </a:prstGeom>
          <a:solidFill>
            <a:srgbClr val="D8EE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302752" y="3822192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070848" y="3822192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838944" y="3822192"/>
            <a:ext cx="658368" cy="658368"/>
          </a:xfrm>
          <a:prstGeom prst="rect">
            <a:avLst/>
          </a:prstGeom>
          <a:solidFill>
            <a:srgbClr val="D8EE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0607040" y="3822192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766560" y="4590288"/>
            <a:ext cx="658368" cy="658368"/>
          </a:xfrm>
          <a:prstGeom prst="rect">
            <a:avLst/>
          </a:prstGeom>
          <a:solidFill>
            <a:srgbClr val="D8EE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534656" y="4590288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302752" y="4590288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070848" y="4590288"/>
            <a:ext cx="658368" cy="658368"/>
          </a:xfrm>
          <a:prstGeom prst="rect">
            <a:avLst/>
          </a:prstGeom>
          <a:solidFill>
            <a:srgbClr val="D8EE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838944" y="4590288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0607040" y="4590288"/>
            <a:ext cx="658368" cy="658368"/>
          </a:xfrm>
          <a:prstGeom prst="rect">
            <a:avLst/>
          </a:prstGeom>
          <a:solidFill>
            <a:srgbClr val="1FA8B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766560" y="5541264"/>
            <a:ext cx="4608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Pasillo RAA · Ocupación: 78%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6309360" y="624535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Ilustrativo — no es una captura real de la aplicación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OCASA — Asignación de m² por Actividad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206240"/>
            <a:ext cx="5943600" cy="5943600"/>
          </a:xfrm>
          <a:prstGeom prst="ellipse">
            <a:avLst/>
          </a:prstGeom>
          <a:solidFill>
            <a:srgbClr val="153B3E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3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tiempo. Menos errores.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visibilidad.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2880360"/>
            <a:ext cx="502920" cy="502920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6" name="Image 0" descr="/tmp/claude-0/-home-user-Asignacion-mts2/99774528-afc8-5db1-a742-2911f868ab09/scratchpad/pptx/icons/rock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002" y="29910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86207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el uso a todas las sucursales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4360" y="3657600"/>
            <a:ext cx="502920" cy="502920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9" name="Image 1" descr="/tmp/claude-0/-home-user-Asignacion-mts2/99774528-afc8-5db1-a742-2911f868ab09/scratchpad/pptx/icons/manag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" y="376824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63931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a los equipos que cargan la información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94360" y="4434840"/>
            <a:ext cx="502920" cy="502920"/>
          </a:xfrm>
          <a:prstGeom prst="ellipse">
            <a:avLst/>
          </a:prstGeom>
          <a:solidFill>
            <a:srgbClr val="1FA8B0"/>
          </a:solidFill>
          <a:ln/>
        </p:spPr>
      </p:sp>
      <p:pic>
        <p:nvPicPr>
          <p:cNvPr id="12" name="Image 2" descr="/tmp/claude-0/-home-user-Asignacion-mts2/99774528-afc8-5db1-a742-2911f868ab09/scratchpad/pptx/icons/c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" y="454548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441655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 feedback y sumar mejoras continuas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94360" y="5943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33C2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2026-07-22T13:32:51Z</dcterms:created>
  <dcterms:modified xsi:type="dcterms:W3CDTF">2026-07-22T13:32:51Z</dcterms:modified>
</cp:coreProperties>
</file>